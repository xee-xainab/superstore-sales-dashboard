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sldIdLst>
    <p:sldId id="256" r:id="rId2"/>
    <p:sldId id="257" r:id="rId3"/>
    <p:sldId id="258" r:id="rId4"/>
    <p:sldId id="266" r:id="rId5"/>
    <p:sldId id="259"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80" d="100"/>
          <a:sy n="80" d="100"/>
        </p:scale>
        <p:origin x="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3B7D36-A265-48DB-896A-13E7627357F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2647410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3B7D36-A265-48DB-896A-13E7627357F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913145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3B7D36-A265-48DB-896A-13E7627357F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4186184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3B7D36-A265-48DB-896A-13E7627357F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57294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3B7D36-A265-48DB-896A-13E7627357F4}" type="datetimeFigureOut">
              <a:rPr lang="en-US" smtClean="0"/>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2556740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3B7D36-A265-48DB-896A-13E7627357F4}" type="datetimeFigureOut">
              <a:rPr lang="en-US" smtClean="0"/>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18918535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3B7D36-A265-48DB-896A-13E7627357F4}" type="datetimeFigureOut">
              <a:rPr lang="en-US" smtClean="0"/>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3179313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3B7D36-A265-48DB-896A-13E7627357F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3593061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3B7D36-A265-48DB-896A-13E7627357F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864572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3B7D36-A265-48DB-896A-13E7627357F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724909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3B7D36-A265-48DB-896A-13E7627357F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420840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3B7D36-A265-48DB-896A-13E7627357F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0B097C-B48D-4D7C-BA94-434353494B86}" type="slidenum">
              <a:rPr lang="en-US" smtClean="0"/>
              <a:t>‹#›</a:t>
            </a:fld>
            <a:endParaRPr lang="en-US"/>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56075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3B7D36-A265-48DB-896A-13E7627357F4}" type="datetimeFigureOut">
              <a:rPr lang="en-US" smtClean="0"/>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32738590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93B7D36-A265-48DB-896A-13E7627357F4}" type="datetimeFigureOut">
              <a:rPr lang="en-US" smtClean="0"/>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11372521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93B7D36-A265-48DB-896A-13E7627357F4}" type="datetimeFigureOut">
              <a:rPr lang="en-US" smtClean="0"/>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10241708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3B7D36-A265-48DB-896A-13E7627357F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3742597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3B7D36-A265-48DB-896A-13E7627357F4}" type="datetimeFigureOut">
              <a:rPr lang="en-US" smtClean="0"/>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00B097C-B48D-4D7C-BA94-434353494B86}" type="slidenum">
              <a:rPr lang="en-US" smtClean="0"/>
              <a:t>‹#›</a:t>
            </a:fld>
            <a:endParaRPr lang="en-US"/>
          </a:p>
        </p:txBody>
      </p:sp>
    </p:spTree>
    <p:extLst>
      <p:ext uri="{BB962C8B-B14F-4D97-AF65-F5344CB8AC3E}">
        <p14:creationId xmlns:p14="http://schemas.microsoft.com/office/powerpoint/2010/main" val="2711935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E93B7D36-A265-48DB-896A-13E7627357F4}" type="datetimeFigureOut">
              <a:rPr lang="en-US" smtClean="0"/>
              <a:t>7/2/2026</a:t>
            </a:fld>
            <a:endParaRPr lang="en-US"/>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B00B097C-B48D-4D7C-BA94-434353494B86}" type="slidenum">
              <a:rPr lang="en-US" smtClean="0"/>
              <a:t>‹#›</a:t>
            </a:fld>
            <a:endParaRPr lang="en-US"/>
          </a:p>
        </p:txBody>
      </p:sp>
    </p:spTree>
    <p:extLst>
      <p:ext uri="{BB962C8B-B14F-4D97-AF65-F5344CB8AC3E}">
        <p14:creationId xmlns:p14="http://schemas.microsoft.com/office/powerpoint/2010/main" val="819294630"/>
      </p:ext>
    </p:extLst>
  </p:cSld>
  <p:clrMap bg1="dk1" tx1="lt1" bg2="dk2" tx2="lt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8934E-8BA5-4141-8403-987ED6B6CE95}"/>
              </a:ext>
            </a:extLst>
          </p:cNvPr>
          <p:cNvSpPr>
            <a:spLocks noGrp="1"/>
          </p:cNvSpPr>
          <p:nvPr>
            <p:ph type="ctrTitle"/>
          </p:nvPr>
        </p:nvSpPr>
        <p:spPr>
          <a:xfrm>
            <a:off x="318053" y="485030"/>
            <a:ext cx="11235192" cy="842838"/>
          </a:xfrm>
        </p:spPr>
        <p:txBody>
          <a:bodyPr>
            <a:normAutofit fontScale="90000"/>
          </a:bodyPr>
          <a:lstStyle/>
          <a:p>
            <a:r>
              <a:rPr lang="en-US" sz="4400" b="1" dirty="0"/>
              <a:t>Superstore Sales Performance Dashboard</a:t>
            </a:r>
          </a:p>
        </p:txBody>
      </p:sp>
      <p:sp>
        <p:nvSpPr>
          <p:cNvPr id="3" name="Subtitle 2">
            <a:extLst>
              <a:ext uri="{FF2B5EF4-FFF2-40B4-BE49-F238E27FC236}">
                <a16:creationId xmlns:a16="http://schemas.microsoft.com/office/drawing/2014/main" id="{6DD07994-0A72-47E6-9644-E3979F9F065C}"/>
              </a:ext>
            </a:extLst>
          </p:cNvPr>
          <p:cNvSpPr>
            <a:spLocks noGrp="1"/>
          </p:cNvSpPr>
          <p:nvPr>
            <p:ph type="subTitle" idx="1"/>
          </p:nvPr>
        </p:nvSpPr>
        <p:spPr>
          <a:xfrm>
            <a:off x="1524000" y="1534603"/>
            <a:ext cx="9144000" cy="5176298"/>
          </a:xfrm>
        </p:spPr>
        <p:txBody>
          <a:bodyPr>
            <a:noAutofit/>
          </a:bodyPr>
          <a:lstStyle/>
          <a:p>
            <a:r>
              <a:rPr lang="en-US" sz="2200" dirty="0"/>
              <a:t>An interactive Power BI Dashboard for Sales, Product Performance, Regional Analysis and Customer Purchasing Behavior</a:t>
            </a:r>
          </a:p>
          <a:p>
            <a:endParaRPr lang="en-US" sz="2200" dirty="0"/>
          </a:p>
          <a:p>
            <a:r>
              <a:rPr lang="en-US" sz="2200" dirty="0"/>
              <a:t>Prepared by </a:t>
            </a:r>
          </a:p>
          <a:p>
            <a:r>
              <a:rPr lang="en-US" sz="2200" b="1" dirty="0"/>
              <a:t>DANJUMA ZAINAB</a:t>
            </a:r>
          </a:p>
          <a:p>
            <a:endParaRPr lang="en-US" sz="2200" dirty="0"/>
          </a:p>
          <a:p>
            <a:r>
              <a:rPr lang="en-US" sz="2200" dirty="0" err="1"/>
              <a:t>AnalystLab</a:t>
            </a:r>
            <a:r>
              <a:rPr lang="en-US" sz="2200" dirty="0"/>
              <a:t> Africa Data Analytics Internship</a:t>
            </a:r>
          </a:p>
          <a:p>
            <a:r>
              <a:rPr lang="en-US" sz="2200" dirty="0"/>
              <a:t>Week 4 project</a:t>
            </a:r>
          </a:p>
          <a:p>
            <a:r>
              <a:rPr lang="en-US" sz="2200" dirty="0"/>
              <a:t>Microsoft Power BI</a:t>
            </a:r>
          </a:p>
        </p:txBody>
      </p:sp>
      <p:pic>
        <p:nvPicPr>
          <p:cNvPr id="7" name="Picture 6">
            <a:extLst>
              <a:ext uri="{FF2B5EF4-FFF2-40B4-BE49-F238E27FC236}">
                <a16:creationId xmlns:a16="http://schemas.microsoft.com/office/drawing/2014/main" id="{DFFAECE8-04B9-42C2-9CCA-54B41430F3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8330" y="5088835"/>
            <a:ext cx="1288111" cy="1041621"/>
          </a:xfrm>
          <a:prstGeom prst="rect">
            <a:avLst/>
          </a:prstGeom>
        </p:spPr>
      </p:pic>
    </p:spTree>
    <p:extLst>
      <p:ext uri="{BB962C8B-B14F-4D97-AF65-F5344CB8AC3E}">
        <p14:creationId xmlns:p14="http://schemas.microsoft.com/office/powerpoint/2010/main" val="3273846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683BF-2DFA-48E8-BB26-A361C5D7BACC}"/>
              </a:ext>
            </a:extLst>
          </p:cNvPr>
          <p:cNvSpPr>
            <a:spLocks noGrp="1"/>
          </p:cNvSpPr>
          <p:nvPr>
            <p:ph type="title"/>
          </p:nvPr>
        </p:nvSpPr>
        <p:spPr>
          <a:xfrm>
            <a:off x="913795" y="580445"/>
            <a:ext cx="10353761" cy="985962"/>
          </a:xfrm>
        </p:spPr>
        <p:txBody>
          <a:bodyPr>
            <a:normAutofit/>
          </a:bodyPr>
          <a:lstStyle/>
          <a:p>
            <a:pPr algn="ctr"/>
            <a:r>
              <a:rPr lang="en-US" sz="4800" b="1" dirty="0"/>
              <a:t>Dataset Overview</a:t>
            </a:r>
          </a:p>
        </p:txBody>
      </p:sp>
      <p:sp>
        <p:nvSpPr>
          <p:cNvPr id="3" name="Content Placeholder 2">
            <a:extLst>
              <a:ext uri="{FF2B5EF4-FFF2-40B4-BE49-F238E27FC236}">
                <a16:creationId xmlns:a16="http://schemas.microsoft.com/office/drawing/2014/main" id="{F1FD8BB4-26C0-4A5C-9097-5448BF3F8555}"/>
              </a:ext>
            </a:extLst>
          </p:cNvPr>
          <p:cNvSpPr>
            <a:spLocks noGrp="1"/>
          </p:cNvSpPr>
          <p:nvPr>
            <p:ph idx="1"/>
          </p:nvPr>
        </p:nvSpPr>
        <p:spPr>
          <a:xfrm>
            <a:off x="838200" y="1690688"/>
            <a:ext cx="10515600" cy="4486275"/>
          </a:xfrm>
        </p:spPr>
        <p:txBody>
          <a:bodyPr>
            <a:noAutofit/>
          </a:bodyPr>
          <a:lstStyle/>
          <a:p>
            <a:pPr marL="0" indent="0">
              <a:buNone/>
            </a:pPr>
            <a:r>
              <a:rPr lang="en-US" sz="1600" b="1" dirty="0">
                <a:cs typeface="Times New Roman" panose="02020603050405020304" pitchFamily="18" charset="0"/>
              </a:rPr>
              <a:t>About the Dataset</a:t>
            </a:r>
          </a:p>
          <a:p>
            <a:r>
              <a:rPr lang="en-US" sz="1600" b="1" dirty="0">
                <a:cs typeface="Times New Roman" panose="02020603050405020304" pitchFamily="18" charset="0"/>
              </a:rPr>
              <a:t>Dataset</a:t>
            </a:r>
            <a:r>
              <a:rPr lang="en-US" sz="1600" dirty="0">
                <a:cs typeface="Times New Roman" panose="02020603050405020304" pitchFamily="18" charset="0"/>
              </a:rPr>
              <a:t>: Superstore Sales Dataset</a:t>
            </a:r>
          </a:p>
          <a:p>
            <a:r>
              <a:rPr lang="en-US" sz="1600" b="1" dirty="0">
                <a:cs typeface="Times New Roman" panose="02020603050405020304" pitchFamily="18" charset="0"/>
              </a:rPr>
              <a:t>Source</a:t>
            </a:r>
            <a:r>
              <a:rPr lang="en-US" sz="1600" dirty="0">
                <a:cs typeface="Times New Roman" panose="02020603050405020304" pitchFamily="18" charset="0"/>
              </a:rPr>
              <a:t>: Kaggle</a:t>
            </a:r>
          </a:p>
          <a:p>
            <a:r>
              <a:rPr lang="en-US" sz="1600" b="1" dirty="0">
                <a:cs typeface="Times New Roman" panose="02020603050405020304" pitchFamily="18" charset="0"/>
              </a:rPr>
              <a:t>Tool Used</a:t>
            </a:r>
            <a:r>
              <a:rPr lang="en-US" sz="1600" dirty="0">
                <a:cs typeface="Times New Roman" panose="02020603050405020304" pitchFamily="18" charset="0"/>
              </a:rPr>
              <a:t>: Microsoft Power BI</a:t>
            </a:r>
          </a:p>
          <a:p>
            <a:pPr marL="0" indent="0">
              <a:buNone/>
            </a:pPr>
            <a:endParaRPr lang="en-US" sz="1600" b="1" dirty="0">
              <a:cs typeface="Times New Roman" panose="02020603050405020304" pitchFamily="18" charset="0"/>
            </a:endParaRPr>
          </a:p>
          <a:p>
            <a:pPr marL="0" indent="0">
              <a:buNone/>
            </a:pPr>
            <a:r>
              <a:rPr lang="en-US" sz="1600" b="1" dirty="0">
                <a:cs typeface="Times New Roman" panose="02020603050405020304" pitchFamily="18" charset="0"/>
              </a:rPr>
              <a:t>Overview</a:t>
            </a:r>
          </a:p>
          <a:p>
            <a:pPr marL="0" indent="0">
              <a:buNone/>
            </a:pPr>
            <a:endParaRPr lang="en-US" sz="1600" b="1" dirty="0">
              <a:cs typeface="Times New Roman" panose="02020603050405020304" pitchFamily="18" charset="0"/>
            </a:endParaRPr>
          </a:p>
          <a:p>
            <a:pPr marL="0" indent="0">
              <a:buNone/>
            </a:pPr>
            <a:r>
              <a:rPr lang="en-US" sz="1600" dirty="0">
                <a:cs typeface="Times New Roman" panose="02020603050405020304" pitchFamily="18" charset="0"/>
              </a:rPr>
              <a:t>The Superstore Sales dataset contains </a:t>
            </a:r>
            <a:r>
              <a:rPr lang="en-US" sz="1600" dirty="0" err="1">
                <a:cs typeface="Times New Roman" panose="02020603050405020304" pitchFamily="18" charset="0"/>
              </a:rPr>
              <a:t>contains</a:t>
            </a:r>
            <a:r>
              <a:rPr lang="en-US" sz="1600" dirty="0">
                <a:cs typeface="Times New Roman" panose="02020603050405020304" pitchFamily="18" charset="0"/>
              </a:rPr>
              <a:t> transactional retail data including </a:t>
            </a:r>
            <a:r>
              <a:rPr lang="en-US" sz="1600" dirty="0" err="1">
                <a:cs typeface="Times New Roman" panose="02020603050405020304" pitchFamily="18" charset="0"/>
              </a:rPr>
              <a:t>including</a:t>
            </a:r>
            <a:r>
              <a:rPr lang="en-US" sz="1600" dirty="0">
                <a:cs typeface="Times New Roman" panose="02020603050405020304" pitchFamily="18" charset="0"/>
              </a:rPr>
              <a:t> sales, profit, customer information, products, discounts, shipping modes, regions, and order dates.</a:t>
            </a:r>
          </a:p>
          <a:p>
            <a:pPr marL="0" indent="0">
              <a:buNone/>
            </a:pPr>
            <a:endParaRPr lang="en-US" sz="1600" dirty="0">
              <a:cs typeface="Times New Roman" panose="02020603050405020304" pitchFamily="18" charset="0"/>
            </a:endParaRPr>
          </a:p>
          <a:p>
            <a:pPr marL="0" indent="0">
              <a:buNone/>
            </a:pPr>
            <a:r>
              <a:rPr lang="en-US" sz="1600" dirty="0">
                <a:cs typeface="Times New Roman" panose="02020603050405020304" pitchFamily="18" charset="0"/>
              </a:rPr>
              <a:t>This project analyze business performance through interactive dashboards to identify sales trends, profitable categories, customers purchasing behavior, and regional performance </a:t>
            </a:r>
          </a:p>
          <a:p>
            <a:pPr marL="0" indent="0">
              <a:buNone/>
            </a:pPr>
            <a:endParaRPr lang="en-US" sz="1600" dirty="0">
              <a:cs typeface="Times New Roman" panose="02020603050405020304" pitchFamily="18" charset="0"/>
            </a:endParaRPr>
          </a:p>
          <a:p>
            <a:pPr marL="0" indent="0">
              <a:buNone/>
            </a:pPr>
            <a:endParaRPr lang="en-US" sz="1600" dirty="0">
              <a:cs typeface="Times New Roman" panose="02020603050405020304" pitchFamily="18" charset="0"/>
            </a:endParaRPr>
          </a:p>
        </p:txBody>
      </p:sp>
    </p:spTree>
    <p:extLst>
      <p:ext uri="{BB962C8B-B14F-4D97-AF65-F5344CB8AC3E}">
        <p14:creationId xmlns:p14="http://schemas.microsoft.com/office/powerpoint/2010/main" val="2335191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4961F-64B8-497D-8A7B-22ECD3C6C2E8}"/>
              </a:ext>
            </a:extLst>
          </p:cNvPr>
          <p:cNvSpPr>
            <a:spLocks noGrp="1"/>
          </p:cNvSpPr>
          <p:nvPr>
            <p:ph type="title"/>
          </p:nvPr>
        </p:nvSpPr>
        <p:spPr/>
        <p:txBody>
          <a:bodyPr/>
          <a:lstStyle/>
          <a:p>
            <a:r>
              <a:rPr lang="en-US" dirty="0"/>
              <a:t>Business Problem</a:t>
            </a:r>
          </a:p>
        </p:txBody>
      </p:sp>
      <p:sp>
        <p:nvSpPr>
          <p:cNvPr id="3" name="Content Placeholder 2">
            <a:extLst>
              <a:ext uri="{FF2B5EF4-FFF2-40B4-BE49-F238E27FC236}">
                <a16:creationId xmlns:a16="http://schemas.microsoft.com/office/drawing/2014/main" id="{9D452229-2AC3-433C-AE08-4C0CEF76AC18}"/>
              </a:ext>
            </a:extLst>
          </p:cNvPr>
          <p:cNvSpPr>
            <a:spLocks noGrp="1"/>
          </p:cNvSpPr>
          <p:nvPr>
            <p:ph idx="1"/>
          </p:nvPr>
        </p:nvSpPr>
        <p:spPr/>
        <p:txBody>
          <a:bodyPr>
            <a:normAutofit/>
          </a:bodyPr>
          <a:lstStyle/>
          <a:p>
            <a:r>
              <a:rPr lang="en-US" dirty="0"/>
              <a:t>Retail organizations generate large amounts of sales data every day. Without proper analysis, it becomes difficult to monitor sales performance, identify profitable products, understand customer purchasing behavior, and evaluate regional performance.</a:t>
            </a:r>
          </a:p>
          <a:p>
            <a:endParaRPr lang="en-US" dirty="0"/>
          </a:p>
          <a:p>
            <a:r>
              <a:rPr lang="en-US" dirty="0"/>
              <a:t>This project transforms raw sales data into an interactive dashboard that supports faster and more informed business decisions.</a:t>
            </a:r>
          </a:p>
          <a:p>
            <a:endParaRPr lang="en-US" dirty="0"/>
          </a:p>
        </p:txBody>
      </p:sp>
    </p:spTree>
    <p:extLst>
      <p:ext uri="{BB962C8B-B14F-4D97-AF65-F5344CB8AC3E}">
        <p14:creationId xmlns:p14="http://schemas.microsoft.com/office/powerpoint/2010/main" val="1547891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E71FC-7AD2-4DB7-935F-84E61DE32FC7}"/>
              </a:ext>
            </a:extLst>
          </p:cNvPr>
          <p:cNvSpPr>
            <a:spLocks noGrp="1"/>
          </p:cNvSpPr>
          <p:nvPr>
            <p:ph type="title"/>
          </p:nvPr>
        </p:nvSpPr>
        <p:spPr/>
        <p:txBody>
          <a:bodyPr/>
          <a:lstStyle/>
          <a:p>
            <a:r>
              <a:rPr lang="en-US" dirty="0"/>
              <a:t>Project objectives</a:t>
            </a:r>
          </a:p>
        </p:txBody>
      </p:sp>
      <p:sp>
        <p:nvSpPr>
          <p:cNvPr id="3" name="Content Placeholder 2">
            <a:extLst>
              <a:ext uri="{FF2B5EF4-FFF2-40B4-BE49-F238E27FC236}">
                <a16:creationId xmlns:a16="http://schemas.microsoft.com/office/drawing/2014/main" id="{20B05D1A-0FBE-4F2E-997E-C0987C16E548}"/>
              </a:ext>
            </a:extLst>
          </p:cNvPr>
          <p:cNvSpPr>
            <a:spLocks noGrp="1"/>
          </p:cNvSpPr>
          <p:nvPr>
            <p:ph idx="1"/>
          </p:nvPr>
        </p:nvSpPr>
        <p:spPr>
          <a:xfrm>
            <a:off x="913795" y="1725433"/>
            <a:ext cx="10353762" cy="4065767"/>
          </a:xfrm>
        </p:spPr>
        <p:txBody>
          <a:bodyPr>
            <a:normAutofit/>
          </a:bodyPr>
          <a:lstStyle/>
          <a:p>
            <a:pPr marL="0" indent="0">
              <a:buNone/>
            </a:pPr>
            <a:r>
              <a:rPr lang="en-US" b="1" dirty="0"/>
              <a:t>This project aims to:</a:t>
            </a:r>
          </a:p>
          <a:p>
            <a:r>
              <a:rPr lang="en-US" dirty="0"/>
              <a:t>Analyze overall sales performance. </a:t>
            </a:r>
          </a:p>
          <a:p>
            <a:r>
              <a:rPr lang="en-US" dirty="0"/>
              <a:t>Evaluate profitability across different product categories. </a:t>
            </a:r>
          </a:p>
          <a:p>
            <a:r>
              <a:rPr lang="en-US" dirty="0"/>
              <a:t>Identify the best-performing regions and products. </a:t>
            </a:r>
          </a:p>
          <a:p>
            <a:r>
              <a:rPr lang="en-US" dirty="0"/>
              <a:t>Understand customer purchasing </a:t>
            </a:r>
            <a:r>
              <a:rPr lang="en-US" dirty="0" err="1"/>
              <a:t>behaviour</a:t>
            </a:r>
            <a:r>
              <a:rPr lang="en-US" dirty="0"/>
              <a:t>. </a:t>
            </a:r>
          </a:p>
          <a:p>
            <a:r>
              <a:rPr lang="en-US" dirty="0"/>
              <a:t>Monitor sales trends over time. </a:t>
            </a:r>
          </a:p>
          <a:p>
            <a:r>
              <a:rPr lang="en-US" dirty="0"/>
              <a:t>Build an interactive dashboard using Microsoft Power BI to support business decision-making.</a:t>
            </a:r>
          </a:p>
          <a:p>
            <a:endParaRPr lang="en-US" dirty="0"/>
          </a:p>
        </p:txBody>
      </p:sp>
    </p:spTree>
    <p:extLst>
      <p:ext uri="{BB962C8B-B14F-4D97-AF65-F5344CB8AC3E}">
        <p14:creationId xmlns:p14="http://schemas.microsoft.com/office/powerpoint/2010/main" val="1753002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7E4A8-224C-4E03-A1B8-380368538FA6}"/>
              </a:ext>
            </a:extLst>
          </p:cNvPr>
          <p:cNvSpPr>
            <a:spLocks noGrp="1"/>
          </p:cNvSpPr>
          <p:nvPr>
            <p:ph type="title"/>
          </p:nvPr>
        </p:nvSpPr>
        <p:spPr>
          <a:xfrm>
            <a:off x="838200" y="202758"/>
            <a:ext cx="10515600" cy="918375"/>
          </a:xfrm>
        </p:spPr>
        <p:txBody>
          <a:bodyPr/>
          <a:lstStyle/>
          <a:p>
            <a:pPr algn="ctr"/>
            <a:r>
              <a:rPr lang="en-US" b="1" dirty="0"/>
              <a:t>Dashboard Features &amp; KPIs</a:t>
            </a:r>
          </a:p>
        </p:txBody>
      </p:sp>
      <p:sp>
        <p:nvSpPr>
          <p:cNvPr id="3" name="Content Placeholder 2">
            <a:extLst>
              <a:ext uri="{FF2B5EF4-FFF2-40B4-BE49-F238E27FC236}">
                <a16:creationId xmlns:a16="http://schemas.microsoft.com/office/drawing/2014/main" id="{90D54815-D0A5-4C49-BFC0-DA60058284BE}"/>
              </a:ext>
            </a:extLst>
          </p:cNvPr>
          <p:cNvSpPr>
            <a:spLocks noGrp="1"/>
          </p:cNvSpPr>
          <p:nvPr>
            <p:ph idx="1"/>
          </p:nvPr>
        </p:nvSpPr>
        <p:spPr>
          <a:xfrm>
            <a:off x="838200" y="1017767"/>
            <a:ext cx="10515600" cy="5701086"/>
          </a:xfrm>
        </p:spPr>
        <p:txBody>
          <a:bodyPr>
            <a:normAutofit fontScale="77500" lnSpcReduction="20000"/>
          </a:bodyPr>
          <a:lstStyle/>
          <a:p>
            <a:pPr marL="0" indent="0">
              <a:buNone/>
            </a:pPr>
            <a:r>
              <a:rPr lang="en-US" sz="1400" b="1" dirty="0">
                <a:latin typeface="Times New Roman" panose="02020603050405020304" pitchFamily="18" charset="0"/>
                <a:cs typeface="Times New Roman" panose="02020603050405020304" pitchFamily="18" charset="0"/>
              </a:rPr>
              <a:t>Dashboard Features</a:t>
            </a:r>
          </a:p>
          <a:p>
            <a:r>
              <a:rPr lang="en-US" sz="1400" dirty="0">
                <a:latin typeface="Times New Roman" panose="02020603050405020304" pitchFamily="18" charset="0"/>
                <a:cs typeface="Times New Roman" panose="02020603050405020304" pitchFamily="18" charset="0"/>
              </a:rPr>
              <a:t>Interactive Filters(Slicers)</a:t>
            </a:r>
          </a:p>
          <a:p>
            <a:r>
              <a:rPr lang="en-US" sz="1400" dirty="0">
                <a:latin typeface="Times New Roman" panose="02020603050405020304" pitchFamily="18" charset="0"/>
                <a:cs typeface="Times New Roman" panose="02020603050405020304" pitchFamily="18" charset="0"/>
              </a:rPr>
              <a:t>Drill-down Analysis</a:t>
            </a:r>
          </a:p>
          <a:p>
            <a:r>
              <a:rPr lang="en-US" sz="1400" dirty="0">
                <a:latin typeface="Times New Roman" panose="02020603050405020304" pitchFamily="18" charset="0"/>
                <a:cs typeface="Times New Roman" panose="02020603050405020304" pitchFamily="18" charset="0"/>
              </a:rPr>
              <a:t>Custom Tooltips</a:t>
            </a:r>
          </a:p>
          <a:p>
            <a:r>
              <a:rPr lang="en-US" sz="1400" dirty="0">
                <a:latin typeface="Times New Roman" panose="02020603050405020304" pitchFamily="18" charset="0"/>
                <a:cs typeface="Times New Roman" panose="02020603050405020304" pitchFamily="18" charset="0"/>
              </a:rPr>
              <a:t>KPI Cards</a:t>
            </a:r>
          </a:p>
          <a:p>
            <a:r>
              <a:rPr lang="en-US" sz="1400" dirty="0">
                <a:latin typeface="Times New Roman" panose="02020603050405020304" pitchFamily="18" charset="0"/>
                <a:cs typeface="Times New Roman" panose="02020603050405020304" pitchFamily="18" charset="0"/>
              </a:rPr>
              <a:t>Interactive Charts</a:t>
            </a:r>
          </a:p>
          <a:p>
            <a:r>
              <a:rPr lang="en-US" sz="1400" dirty="0">
                <a:cs typeface="Times New Roman" panose="02020603050405020304" pitchFamily="18" charset="0"/>
              </a:rPr>
              <a:t>Geographic</a:t>
            </a:r>
            <a:r>
              <a:rPr lang="en-US" sz="1400" dirty="0">
                <a:latin typeface="Times New Roman" panose="02020603050405020304" pitchFamily="18" charset="0"/>
                <a:cs typeface="Times New Roman" panose="02020603050405020304" pitchFamily="18" charset="0"/>
              </a:rPr>
              <a:t> Map</a:t>
            </a:r>
          </a:p>
          <a:p>
            <a:pPr marL="0" indent="0">
              <a:buNone/>
            </a:pPr>
            <a:r>
              <a:rPr lang="en-US" sz="1400" b="1" dirty="0">
                <a:latin typeface="Times New Roman" panose="02020603050405020304" pitchFamily="18" charset="0"/>
                <a:cs typeface="Times New Roman" panose="02020603050405020304" pitchFamily="18" charset="0"/>
              </a:rPr>
              <a:t>Key KPIs</a:t>
            </a:r>
          </a:p>
          <a:p>
            <a:pPr marL="0" indent="0">
              <a:buNone/>
            </a:pPr>
            <a:r>
              <a:rPr lang="en-US" sz="1400" b="1" dirty="0">
                <a:latin typeface="Times New Roman" panose="02020603050405020304" pitchFamily="18" charset="0"/>
                <a:cs typeface="Times New Roman" panose="02020603050405020304" pitchFamily="18" charset="0"/>
              </a:rPr>
              <a:t>Executive Overview</a:t>
            </a:r>
          </a:p>
          <a:p>
            <a:r>
              <a:rPr lang="en-US" sz="1400" dirty="0">
                <a:latin typeface="Times New Roman" panose="02020603050405020304" pitchFamily="18" charset="0"/>
                <a:cs typeface="Times New Roman" panose="02020603050405020304" pitchFamily="18" charset="0"/>
              </a:rPr>
              <a:t>Total Sales: 2k</a:t>
            </a:r>
          </a:p>
          <a:p>
            <a:r>
              <a:rPr lang="en-US" sz="1400" dirty="0">
                <a:latin typeface="Times New Roman" panose="02020603050405020304" pitchFamily="18" charset="0"/>
                <a:cs typeface="Times New Roman" panose="02020603050405020304" pitchFamily="18" charset="0"/>
              </a:rPr>
              <a:t>Total Profit: 286.40k</a:t>
            </a:r>
          </a:p>
          <a:p>
            <a:r>
              <a:rPr lang="en-US" sz="1400" dirty="0">
                <a:latin typeface="Times New Roman" panose="02020603050405020304" pitchFamily="18" charset="0"/>
                <a:cs typeface="Times New Roman" panose="02020603050405020304" pitchFamily="18" charset="0"/>
              </a:rPr>
              <a:t>Total Orders: 5k</a:t>
            </a:r>
          </a:p>
          <a:p>
            <a:r>
              <a:rPr lang="en-US" sz="1400" dirty="0">
                <a:latin typeface="Times New Roman" panose="02020603050405020304" pitchFamily="18" charset="0"/>
                <a:cs typeface="Times New Roman" panose="02020603050405020304" pitchFamily="18" charset="0"/>
              </a:rPr>
              <a:t>Profit Margin: 12%</a:t>
            </a:r>
          </a:p>
          <a:p>
            <a:pPr marL="0" indent="0">
              <a:buNone/>
            </a:pPr>
            <a:r>
              <a:rPr lang="en-US" sz="1400" b="1" dirty="0">
                <a:latin typeface="Times New Roman" panose="02020603050405020304" pitchFamily="18" charset="0"/>
                <a:cs typeface="Times New Roman" panose="02020603050405020304" pitchFamily="18" charset="0"/>
              </a:rPr>
              <a:t>Product &amp; Regional Performance</a:t>
            </a:r>
          </a:p>
          <a:p>
            <a:r>
              <a:rPr lang="en-US" sz="1400" dirty="0">
                <a:latin typeface="Times New Roman" panose="02020603050405020304" pitchFamily="18" charset="0"/>
                <a:cs typeface="Times New Roman" panose="02020603050405020304" pitchFamily="18" charset="0"/>
              </a:rPr>
              <a:t>Average Discount: 15.6</a:t>
            </a:r>
          </a:p>
          <a:p>
            <a:r>
              <a:rPr lang="en-US" sz="1400" dirty="0">
                <a:latin typeface="Times New Roman" panose="02020603050405020304" pitchFamily="18" charset="0"/>
                <a:cs typeface="Times New Roman" panose="02020603050405020304" pitchFamily="18" charset="0"/>
              </a:rPr>
              <a:t>Total Products: 2k</a:t>
            </a:r>
          </a:p>
          <a:p>
            <a:pPr marL="0" indent="0">
              <a:buNone/>
            </a:pPr>
            <a:r>
              <a:rPr lang="en-US" sz="1400" b="1" dirty="0">
                <a:latin typeface="Times New Roman" panose="02020603050405020304" pitchFamily="18" charset="0"/>
                <a:cs typeface="Times New Roman" panose="02020603050405020304" pitchFamily="18" charset="0"/>
              </a:rPr>
              <a:t>Customer Purchasing Behavior</a:t>
            </a:r>
          </a:p>
          <a:p>
            <a:r>
              <a:rPr lang="en-US" sz="1400" dirty="0">
                <a:latin typeface="Times New Roman" panose="02020603050405020304" pitchFamily="18" charset="0"/>
                <a:cs typeface="Times New Roman" panose="02020603050405020304" pitchFamily="18" charset="0"/>
              </a:rPr>
              <a:t>Total Customers: 793</a:t>
            </a:r>
          </a:p>
          <a:p>
            <a:r>
              <a:rPr lang="en-US" sz="1400" dirty="0">
                <a:latin typeface="Times New Roman" panose="02020603050405020304" pitchFamily="18" charset="0"/>
                <a:cs typeface="Times New Roman" panose="02020603050405020304" pitchFamily="18" charset="0"/>
              </a:rPr>
              <a:t>Average Sales per Customer: $2.90K</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9903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2282-7A8A-4F70-A460-65B4EC72F32F}"/>
              </a:ext>
            </a:extLst>
          </p:cNvPr>
          <p:cNvSpPr>
            <a:spLocks noGrp="1"/>
          </p:cNvSpPr>
          <p:nvPr>
            <p:ph type="title"/>
          </p:nvPr>
        </p:nvSpPr>
        <p:spPr>
          <a:xfrm>
            <a:off x="838200" y="365126"/>
            <a:ext cx="10515600" cy="859376"/>
          </a:xfrm>
        </p:spPr>
        <p:txBody>
          <a:bodyPr/>
          <a:lstStyle/>
          <a:p>
            <a:pPr algn="ctr"/>
            <a:r>
              <a:rPr lang="en-US" b="1" dirty="0"/>
              <a:t>Dashboard Pages </a:t>
            </a:r>
          </a:p>
        </p:txBody>
      </p:sp>
      <p:sp>
        <p:nvSpPr>
          <p:cNvPr id="3" name="Content Placeholder 2">
            <a:extLst>
              <a:ext uri="{FF2B5EF4-FFF2-40B4-BE49-F238E27FC236}">
                <a16:creationId xmlns:a16="http://schemas.microsoft.com/office/drawing/2014/main" id="{6F991D46-6812-4F82-A2E2-FC4041791699}"/>
              </a:ext>
            </a:extLst>
          </p:cNvPr>
          <p:cNvSpPr>
            <a:spLocks noGrp="1"/>
          </p:cNvSpPr>
          <p:nvPr>
            <p:ph idx="1"/>
          </p:nvPr>
        </p:nvSpPr>
        <p:spPr>
          <a:xfrm>
            <a:off x="838200" y="1144988"/>
            <a:ext cx="10515600" cy="5031975"/>
          </a:xfrm>
        </p:spPr>
        <p:txBody>
          <a:bodyPr>
            <a:noAutofit/>
          </a:bodyPr>
          <a:lstStyle/>
          <a:p>
            <a:r>
              <a:rPr lang="en-US" sz="2200" b="1" dirty="0">
                <a:latin typeface="Times New Roman" panose="02020603050405020304" pitchFamily="18" charset="0"/>
                <a:cs typeface="Times New Roman" panose="02020603050405020304" pitchFamily="18" charset="0"/>
              </a:rPr>
              <a:t>Executive Overview</a:t>
            </a:r>
          </a:p>
          <a:p>
            <a:pPr marL="0" indent="0">
              <a:buNone/>
            </a:pPr>
            <a:r>
              <a:rPr lang="en-US" sz="2200" dirty="0">
                <a:latin typeface="Times New Roman" panose="02020603050405020304" pitchFamily="18" charset="0"/>
                <a:cs typeface="Times New Roman" panose="02020603050405020304" pitchFamily="18" charset="0"/>
              </a:rPr>
              <a:t>Provides an overview of overall business performance through KPIs, regional sales analysis, </a:t>
            </a:r>
            <a:r>
              <a:rPr lang="en-US" sz="2200" dirty="0">
                <a:cs typeface="Times New Roman" panose="02020603050405020304" pitchFamily="18" charset="0"/>
              </a:rPr>
              <a:t>profit</a:t>
            </a:r>
            <a:r>
              <a:rPr lang="en-US" sz="2200" dirty="0">
                <a:latin typeface="Times New Roman" panose="02020603050405020304" pitchFamily="18" charset="0"/>
                <a:cs typeface="Times New Roman" panose="02020603050405020304" pitchFamily="18" charset="0"/>
              </a:rPr>
              <a:t> analysis and yearly sales trends</a:t>
            </a:r>
          </a:p>
          <a:p>
            <a:pPr marL="0" indent="0">
              <a:buNone/>
            </a:pPr>
            <a:endParaRPr lang="en-US" sz="22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Product &amp; Regional Performance</a:t>
            </a:r>
          </a:p>
          <a:p>
            <a:pPr marL="0" indent="0">
              <a:buNone/>
            </a:pPr>
            <a:r>
              <a:rPr lang="en-US" sz="2200" dirty="0">
                <a:latin typeface="Times New Roman" panose="02020603050405020304" pitchFamily="18" charset="0"/>
                <a:cs typeface="Times New Roman" panose="02020603050405020304" pitchFamily="18" charset="0"/>
              </a:rPr>
              <a:t>Analyzes product categories, top-performing products, regional sales distribution, and discount performance</a:t>
            </a:r>
          </a:p>
          <a:p>
            <a:pPr marL="0" indent="0">
              <a:buNone/>
            </a:pPr>
            <a:endParaRPr lang="en-US" sz="22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Customers Purchasing Behavior</a:t>
            </a:r>
          </a:p>
          <a:p>
            <a:pPr marL="0" indent="0">
              <a:buNone/>
            </a:pPr>
            <a:r>
              <a:rPr lang="en-US" sz="2200" dirty="0">
                <a:latin typeface="Times New Roman" panose="02020603050405020304" pitchFamily="18" charset="0"/>
                <a:cs typeface="Times New Roman" panose="02020603050405020304" pitchFamily="18" charset="0"/>
              </a:rPr>
              <a:t>Explores customer purchasing trends, customer segmentation, shipping preferences, and customer profitability</a:t>
            </a:r>
          </a:p>
          <a:p>
            <a:pPr marL="0" indent="0">
              <a:buNone/>
            </a:pP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9040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C9757-F1E8-4236-8105-3A7F7386CAED}"/>
              </a:ext>
            </a:extLst>
          </p:cNvPr>
          <p:cNvSpPr>
            <a:spLocks noGrp="1"/>
          </p:cNvSpPr>
          <p:nvPr>
            <p:ph type="title"/>
          </p:nvPr>
        </p:nvSpPr>
        <p:spPr>
          <a:xfrm>
            <a:off x="838200" y="365126"/>
            <a:ext cx="10515600" cy="732154"/>
          </a:xfrm>
        </p:spPr>
        <p:txBody>
          <a:bodyPr>
            <a:normAutofit/>
          </a:bodyPr>
          <a:lstStyle/>
          <a:p>
            <a:pPr algn="ctr"/>
            <a:r>
              <a:rPr lang="en-US" b="1" dirty="0"/>
              <a:t>Key Insights</a:t>
            </a:r>
          </a:p>
        </p:txBody>
      </p:sp>
      <p:sp>
        <p:nvSpPr>
          <p:cNvPr id="4" name="Rectangle 1">
            <a:extLst>
              <a:ext uri="{FF2B5EF4-FFF2-40B4-BE49-F238E27FC236}">
                <a16:creationId xmlns:a16="http://schemas.microsoft.com/office/drawing/2014/main" id="{D86CE440-C7CA-4087-B9EC-4C7832CBDC53}"/>
              </a:ext>
            </a:extLst>
          </p:cNvPr>
          <p:cNvSpPr>
            <a:spLocks noGrp="1" noChangeArrowheads="1"/>
          </p:cNvSpPr>
          <p:nvPr>
            <p:ph idx="1"/>
          </p:nvPr>
        </p:nvSpPr>
        <p:spPr bwMode="auto">
          <a:xfrm>
            <a:off x="381663" y="1148758"/>
            <a:ext cx="11171583"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West Region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recorded the highest sales (approximately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0.73M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followed by the East Region. </a:t>
            </a:r>
          </a:p>
          <a:p>
            <a:pPr eaLnBrk="0" fontAlgn="base" hangingPunct="0">
              <a:lnSpc>
                <a:spcPct val="100000"/>
              </a:lnSpc>
              <a:spcBef>
                <a:spcPct val="0"/>
              </a:spcBef>
              <a:spcAft>
                <a:spcPct val="0"/>
              </a:spcAft>
            </a:pPr>
            <a:endParaRPr kumimoji="0" lang="en-US" altLang="en-US" sz="2400" b="0" i="0" u="none" strike="noStrike" cap="none" normalizeH="0" baseline="0" dirty="0">
              <a:ln>
                <a:noFill/>
              </a:ln>
              <a:solidFill>
                <a:schemeClr val="tx1"/>
              </a:solidFill>
              <a:effectLst/>
              <a:cs typeface="Times New Roman" panose="02020603050405020304" pitchFamily="18" charset="0"/>
            </a:endParaRPr>
          </a:p>
          <a:p>
            <a:pPr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Technology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generated the highest profit (about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145K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outperforming Office Supplies and Furniture. </a:t>
            </a:r>
          </a:p>
          <a:p>
            <a:pPr eaLnBrk="0" fontAlgn="base" hangingPunct="0">
              <a:lnSpc>
                <a:spcPct val="100000"/>
              </a:lnSpc>
              <a:spcBef>
                <a:spcPct val="0"/>
              </a:spcBef>
              <a:spcAft>
                <a:spcPct val="0"/>
              </a:spcAf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Phones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were the top-selling sub-category. </a:t>
            </a:r>
          </a:p>
          <a:p>
            <a:pPr eaLnBrk="0" fontAlgn="base" hangingPunct="0">
              <a:lnSpc>
                <a:spcPct val="100000"/>
              </a:lnSpc>
              <a:spcBef>
                <a:spcPct val="0"/>
              </a:spcBef>
              <a:spcAft>
                <a:spcPct val="0"/>
              </a:spcAf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Consumer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segment generated the highest sales and profit among customer segments. </a:t>
            </a:r>
          </a:p>
          <a:p>
            <a:pPr eaLnBrk="0" fontAlgn="base" hangingPunct="0">
              <a:lnSpc>
                <a:spcPct val="100000"/>
              </a:lnSpc>
              <a:spcBef>
                <a:spcPct val="0"/>
              </a:spcBef>
              <a:spcAft>
                <a:spcPct val="0"/>
              </a:spcAf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Standard Class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was the most frequently used shipping mode and accounted for the highest sales. </a:t>
            </a:r>
          </a:p>
        </p:txBody>
      </p:sp>
    </p:spTree>
    <p:extLst>
      <p:ext uri="{BB962C8B-B14F-4D97-AF65-F5344CB8AC3E}">
        <p14:creationId xmlns:p14="http://schemas.microsoft.com/office/powerpoint/2010/main" val="2603815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D429C-56C6-4364-93E4-9B233A2E5CCF}"/>
              </a:ext>
            </a:extLst>
          </p:cNvPr>
          <p:cNvSpPr>
            <a:spLocks noGrp="1"/>
          </p:cNvSpPr>
          <p:nvPr>
            <p:ph type="title"/>
          </p:nvPr>
        </p:nvSpPr>
        <p:spPr>
          <a:xfrm>
            <a:off x="838200" y="365126"/>
            <a:ext cx="10515600" cy="1177428"/>
          </a:xfrm>
        </p:spPr>
        <p:txBody>
          <a:bodyPr/>
          <a:lstStyle/>
          <a:p>
            <a:pPr algn="ctr"/>
            <a:r>
              <a:rPr lang="en-US" b="1" dirty="0"/>
              <a:t>Business Recommendations</a:t>
            </a:r>
          </a:p>
        </p:txBody>
      </p:sp>
      <p:sp>
        <p:nvSpPr>
          <p:cNvPr id="3" name="Content Placeholder 2">
            <a:extLst>
              <a:ext uri="{FF2B5EF4-FFF2-40B4-BE49-F238E27FC236}">
                <a16:creationId xmlns:a16="http://schemas.microsoft.com/office/drawing/2014/main" id="{F8257907-DCF4-4843-9829-D8730383F733}"/>
              </a:ext>
            </a:extLst>
          </p:cNvPr>
          <p:cNvSpPr>
            <a:spLocks noGrp="1"/>
          </p:cNvSpPr>
          <p:nvPr>
            <p:ph idx="1"/>
          </p:nvPr>
        </p:nvSpPr>
        <p:spPr>
          <a:xfrm>
            <a:off x="838200" y="1455089"/>
            <a:ext cx="10515600" cy="4721874"/>
          </a:xfrm>
        </p:spPr>
        <p:txBody>
          <a:bodyPr>
            <a:noAutofit/>
          </a:bodyPr>
          <a:lstStyle/>
          <a:p>
            <a:pPr marL="0" indent="0">
              <a:buNone/>
            </a:pPr>
            <a:r>
              <a:rPr lang="en-US" sz="2800" b="1" dirty="0">
                <a:latin typeface="Times New Roman" panose="02020603050405020304" pitchFamily="18" charset="0"/>
                <a:cs typeface="Times New Roman" panose="02020603050405020304" pitchFamily="18" charset="0"/>
              </a:rPr>
              <a:t>Based on the analysis:</a:t>
            </a:r>
          </a:p>
          <a:p>
            <a:r>
              <a:rPr lang="en-US" sz="2800" dirty="0">
                <a:cs typeface="Times New Roman" panose="02020603050405020304" pitchFamily="18" charset="0"/>
              </a:rPr>
              <a:t>Increased</a:t>
            </a:r>
            <a:r>
              <a:rPr lang="en-US" sz="2800" dirty="0">
                <a:latin typeface="Times New Roman" panose="02020603050405020304" pitchFamily="18" charset="0"/>
                <a:cs typeface="Times New Roman" panose="02020603050405020304" pitchFamily="18" charset="0"/>
              </a:rPr>
              <a:t> investment in high-performing Technology products</a:t>
            </a:r>
          </a:p>
          <a:p>
            <a:r>
              <a:rPr lang="en-US" sz="2800" dirty="0">
                <a:latin typeface="Times New Roman" panose="02020603050405020304" pitchFamily="18" charset="0"/>
                <a:cs typeface="Times New Roman" panose="02020603050405020304" pitchFamily="18" charset="0"/>
              </a:rPr>
              <a:t>Improve marketing strategies in lower-performing regions to boos sales </a:t>
            </a:r>
          </a:p>
          <a:p>
            <a:r>
              <a:rPr lang="en-US" sz="2800" dirty="0">
                <a:latin typeface="Times New Roman" panose="02020603050405020304" pitchFamily="18" charset="0"/>
                <a:cs typeface="Times New Roman" panose="02020603050405020304" pitchFamily="18" charset="0"/>
              </a:rPr>
              <a:t>Promote products in high-demand sub-categories such as phones</a:t>
            </a:r>
          </a:p>
          <a:p>
            <a:r>
              <a:rPr lang="en-US" sz="2800" dirty="0">
                <a:latin typeface="Times New Roman" panose="02020603050405020304" pitchFamily="18" charset="0"/>
                <a:cs typeface="Times New Roman" panose="02020603050405020304" pitchFamily="18" charset="0"/>
              </a:rPr>
              <a:t>Encourage customer loyalty programs for high-value customers</a:t>
            </a:r>
          </a:p>
          <a:p>
            <a:r>
              <a:rPr lang="en-US" sz="2800" dirty="0">
                <a:latin typeface="Times New Roman" panose="02020603050405020304" pitchFamily="18" charset="0"/>
                <a:cs typeface="Times New Roman" panose="02020603050405020304" pitchFamily="18" charset="0"/>
              </a:rPr>
              <a:t>Optimize shipping operations by improving the efficiency of standard Class deliveries </a:t>
            </a:r>
          </a:p>
        </p:txBody>
      </p:sp>
    </p:spTree>
    <p:extLst>
      <p:ext uri="{BB962C8B-B14F-4D97-AF65-F5344CB8AC3E}">
        <p14:creationId xmlns:p14="http://schemas.microsoft.com/office/powerpoint/2010/main" val="2536100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22516-A6B8-4ECA-8575-E7AA5ED43963}"/>
              </a:ext>
            </a:extLst>
          </p:cNvPr>
          <p:cNvSpPr>
            <a:spLocks noGrp="1"/>
          </p:cNvSpPr>
          <p:nvPr>
            <p:ph type="title"/>
          </p:nvPr>
        </p:nvSpPr>
        <p:spPr>
          <a:xfrm>
            <a:off x="838200" y="365126"/>
            <a:ext cx="10515600" cy="1153574"/>
          </a:xfrm>
        </p:spPr>
        <p:txBody>
          <a:bodyPr/>
          <a:lstStyle/>
          <a:p>
            <a:pPr algn="ctr"/>
            <a:r>
              <a:rPr lang="en-US" b="1" dirty="0"/>
              <a:t>Challenges Faced</a:t>
            </a:r>
          </a:p>
        </p:txBody>
      </p:sp>
      <p:sp>
        <p:nvSpPr>
          <p:cNvPr id="3" name="Content Placeholder 2">
            <a:extLst>
              <a:ext uri="{FF2B5EF4-FFF2-40B4-BE49-F238E27FC236}">
                <a16:creationId xmlns:a16="http://schemas.microsoft.com/office/drawing/2014/main" id="{EBE908C3-54D4-438F-9CA5-B356F6C122CE}"/>
              </a:ext>
            </a:extLst>
          </p:cNvPr>
          <p:cNvSpPr>
            <a:spLocks noGrp="1"/>
          </p:cNvSpPr>
          <p:nvPr>
            <p:ph idx="1"/>
          </p:nvPr>
        </p:nvSpPr>
        <p:spPr>
          <a:xfrm>
            <a:off x="838200" y="1304014"/>
            <a:ext cx="10515600" cy="4872949"/>
          </a:xfrm>
        </p:spPr>
        <p:txBody>
          <a:bodyPr>
            <a:normAutofit/>
          </a:bodyPr>
          <a:lstStyle/>
          <a:p>
            <a:r>
              <a:rPr lang="en-US" sz="3200" dirty="0">
                <a:latin typeface="Times New Roman" panose="02020603050405020304" pitchFamily="18" charset="0"/>
                <a:cs typeface="Times New Roman" panose="02020603050405020304" pitchFamily="18" charset="0"/>
              </a:rPr>
              <a:t>Cleaning and understanding the dataset</a:t>
            </a:r>
          </a:p>
          <a:p>
            <a:r>
              <a:rPr lang="en-US" sz="3200" dirty="0">
                <a:latin typeface="Times New Roman" panose="02020603050405020304" pitchFamily="18" charset="0"/>
                <a:cs typeface="Times New Roman" panose="02020603050405020304" pitchFamily="18" charset="0"/>
              </a:rPr>
              <a:t>Selecting meaningful KPIs</a:t>
            </a:r>
          </a:p>
          <a:p>
            <a:r>
              <a:rPr lang="en-US" sz="3200" dirty="0">
                <a:latin typeface="Times New Roman" panose="02020603050405020304" pitchFamily="18" charset="0"/>
                <a:cs typeface="Times New Roman" panose="02020603050405020304" pitchFamily="18" charset="0"/>
              </a:rPr>
              <a:t>Designing a professional dashboard layout</a:t>
            </a:r>
          </a:p>
          <a:p>
            <a:r>
              <a:rPr lang="en-US" sz="3200" dirty="0">
                <a:latin typeface="Times New Roman" panose="02020603050405020304" pitchFamily="18" charset="0"/>
                <a:cs typeface="Times New Roman" panose="02020603050405020304" pitchFamily="18" charset="0"/>
              </a:rPr>
              <a:t>Applying consistent formatting and color themes</a:t>
            </a:r>
          </a:p>
          <a:p>
            <a:r>
              <a:rPr lang="en-US" sz="3200" dirty="0">
                <a:latin typeface="Times New Roman" panose="02020603050405020304" pitchFamily="18" charset="0"/>
                <a:cs typeface="Times New Roman" panose="02020603050405020304" pitchFamily="18" charset="0"/>
              </a:rPr>
              <a:t>Implementing drill-down and tooltip functionality</a:t>
            </a:r>
          </a:p>
          <a:p>
            <a:r>
              <a:rPr lang="en-US" sz="3200" dirty="0">
                <a:latin typeface="Times New Roman" panose="02020603050405020304" pitchFamily="18" charset="0"/>
                <a:cs typeface="Times New Roman" panose="02020603050405020304" pitchFamily="18" charset="0"/>
              </a:rPr>
              <a:t>Creating interaction visuals while maintaining dashboard readability</a:t>
            </a:r>
          </a:p>
        </p:txBody>
      </p:sp>
    </p:spTree>
    <p:extLst>
      <p:ext uri="{BB962C8B-B14F-4D97-AF65-F5344CB8AC3E}">
        <p14:creationId xmlns:p14="http://schemas.microsoft.com/office/powerpoint/2010/main" val="4136720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CF7DD-7BB4-4A3D-BCD8-E12A9F734AA7}"/>
              </a:ext>
            </a:extLst>
          </p:cNvPr>
          <p:cNvSpPr>
            <a:spLocks noGrp="1"/>
          </p:cNvSpPr>
          <p:nvPr>
            <p:ph type="title"/>
          </p:nvPr>
        </p:nvSpPr>
        <p:spPr>
          <a:xfrm>
            <a:off x="838200" y="365126"/>
            <a:ext cx="10515600" cy="1066110"/>
          </a:xfrm>
        </p:spPr>
        <p:txBody>
          <a:bodyPr/>
          <a:lstStyle/>
          <a:p>
            <a:pPr algn="ctr"/>
            <a:r>
              <a:rPr lang="en-US" b="1" dirty="0"/>
              <a:t>Conclusion</a:t>
            </a:r>
          </a:p>
        </p:txBody>
      </p:sp>
      <p:sp>
        <p:nvSpPr>
          <p:cNvPr id="3" name="Content Placeholder 2">
            <a:extLst>
              <a:ext uri="{FF2B5EF4-FFF2-40B4-BE49-F238E27FC236}">
                <a16:creationId xmlns:a16="http://schemas.microsoft.com/office/drawing/2014/main" id="{3296ADE8-8A87-42F5-9726-D7054233DDA0}"/>
              </a:ext>
            </a:extLst>
          </p:cNvPr>
          <p:cNvSpPr>
            <a:spLocks noGrp="1"/>
          </p:cNvSpPr>
          <p:nvPr>
            <p:ph idx="1"/>
          </p:nvPr>
        </p:nvSpPr>
        <p:spPr>
          <a:xfrm>
            <a:off x="838200" y="1550504"/>
            <a:ext cx="10515600" cy="4626459"/>
          </a:xfrm>
        </p:spPr>
        <p:txBody>
          <a:bodyPr>
            <a:normAutofit fontScale="92500"/>
          </a:bodyPr>
          <a:lstStyle/>
          <a:p>
            <a:pPr marL="0" indent="0">
              <a:buNone/>
            </a:pPr>
            <a:r>
              <a:rPr lang="en-US" sz="3600" dirty="0">
                <a:latin typeface="Times New Roman" panose="02020603050405020304" pitchFamily="18" charset="0"/>
                <a:cs typeface="Times New Roman" panose="02020603050405020304" pitchFamily="18" charset="0"/>
              </a:rPr>
              <a:t>The Power BI dashboard successfully transformed raw sales data into actionable business insights </a:t>
            </a:r>
          </a:p>
          <a:p>
            <a:pPr marL="0" indent="0">
              <a:buNone/>
            </a:pPr>
            <a:endParaRPr lang="en-US" sz="3600" dirty="0">
              <a:latin typeface="Times New Roman" panose="02020603050405020304" pitchFamily="18" charset="0"/>
              <a:cs typeface="Times New Roman" panose="02020603050405020304" pitchFamily="18" charset="0"/>
            </a:endParaRPr>
          </a:p>
          <a:p>
            <a:pPr marL="0" indent="0">
              <a:buNone/>
            </a:pPr>
            <a:r>
              <a:rPr lang="en-US" sz="3600" dirty="0">
                <a:latin typeface="Times New Roman" panose="02020603050405020304" pitchFamily="18" charset="0"/>
                <a:cs typeface="Times New Roman" panose="02020603050405020304" pitchFamily="18" charset="0"/>
              </a:rPr>
              <a:t> The  interactive dashboard enables stakeholders to monitor sales performance, and evaluate profitability, analyze customer purchasing behavior, and make informed business decisions using real-time filtering and drill-down analysis</a:t>
            </a:r>
          </a:p>
        </p:txBody>
      </p:sp>
    </p:spTree>
    <p:extLst>
      <p:ext uri="{BB962C8B-B14F-4D97-AF65-F5344CB8AC3E}">
        <p14:creationId xmlns:p14="http://schemas.microsoft.com/office/powerpoint/2010/main" val="12933502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B3C01-0E43-4A2D-8EEC-84439ABF219B}"/>
              </a:ext>
            </a:extLst>
          </p:cNvPr>
          <p:cNvSpPr>
            <a:spLocks noGrp="1"/>
          </p:cNvSpPr>
          <p:nvPr>
            <p:ph type="title"/>
          </p:nvPr>
        </p:nvSpPr>
        <p:spPr/>
        <p:txBody>
          <a:bodyPr>
            <a:normAutofit/>
          </a:bodyPr>
          <a:lstStyle/>
          <a:p>
            <a:pPr algn="ctr"/>
            <a:r>
              <a:rPr lang="en-US" sz="6000" b="1" dirty="0"/>
              <a:t>Thank You</a:t>
            </a:r>
          </a:p>
        </p:txBody>
      </p:sp>
      <p:sp>
        <p:nvSpPr>
          <p:cNvPr id="3" name="Content Placeholder 2">
            <a:extLst>
              <a:ext uri="{FF2B5EF4-FFF2-40B4-BE49-F238E27FC236}">
                <a16:creationId xmlns:a16="http://schemas.microsoft.com/office/drawing/2014/main" id="{75A88E19-79CB-41EC-B04F-0CCF86FE15FD}"/>
              </a:ext>
            </a:extLst>
          </p:cNvPr>
          <p:cNvSpPr>
            <a:spLocks noGrp="1"/>
          </p:cNvSpPr>
          <p:nvPr>
            <p:ph idx="1"/>
          </p:nvPr>
        </p:nvSpPr>
        <p:spPr/>
        <p:txBody>
          <a:bodyPr>
            <a:normAutofit fontScale="77500" lnSpcReduction="20000"/>
          </a:bodyPr>
          <a:lstStyle/>
          <a:p>
            <a:pPr marL="0" indent="0" algn="ctr">
              <a:buNone/>
            </a:pPr>
            <a:r>
              <a:rPr lang="en-US" sz="4000" b="1" dirty="0"/>
              <a:t> </a:t>
            </a:r>
            <a:endParaRPr lang="en-US" sz="4000" dirty="0"/>
          </a:p>
          <a:p>
            <a:pPr marL="0" indent="0" algn="ctr">
              <a:buNone/>
            </a:pPr>
            <a:r>
              <a:rPr lang="en-US" sz="4000" dirty="0"/>
              <a:t>Questions &amp; Feedback</a:t>
            </a:r>
          </a:p>
          <a:p>
            <a:pPr marL="0" indent="0" algn="ctr">
              <a:buNone/>
            </a:pPr>
            <a:endParaRPr lang="en-US" sz="4000" dirty="0"/>
          </a:p>
          <a:p>
            <a:pPr marL="0" indent="0" algn="ctr">
              <a:buNone/>
            </a:pPr>
            <a:r>
              <a:rPr lang="en-US" sz="4000" dirty="0"/>
              <a:t>Prepared by </a:t>
            </a:r>
          </a:p>
          <a:p>
            <a:pPr marL="0" indent="0" algn="ctr">
              <a:buNone/>
            </a:pPr>
            <a:endParaRPr lang="en-US" sz="4000" dirty="0"/>
          </a:p>
          <a:p>
            <a:pPr marL="0" indent="0" algn="ctr">
              <a:buNone/>
            </a:pPr>
            <a:r>
              <a:rPr lang="en-US" sz="4000" b="1" dirty="0"/>
              <a:t>DANJUMA ZAINAB</a:t>
            </a:r>
          </a:p>
        </p:txBody>
      </p:sp>
    </p:spTree>
    <p:extLst>
      <p:ext uri="{BB962C8B-B14F-4D97-AF65-F5344CB8AC3E}">
        <p14:creationId xmlns:p14="http://schemas.microsoft.com/office/powerpoint/2010/main" val="35762084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90</TotalTime>
  <Words>550</Words>
  <Application>Microsoft Office PowerPoint</Application>
  <PresentationFormat>Widescreen</PresentationFormat>
  <Paragraphs>97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Bookman Old Style</vt:lpstr>
      <vt:lpstr>Rockwell</vt:lpstr>
      <vt:lpstr>Times New Roman</vt:lpstr>
      <vt:lpstr>Damask</vt:lpstr>
      <vt:lpstr>Superstore Sales Performance Dashboard</vt:lpstr>
      <vt:lpstr>Dataset Overview</vt:lpstr>
      <vt:lpstr>Business Problem</vt:lpstr>
      <vt:lpstr>Project objectives</vt:lpstr>
      <vt:lpstr>Dashboard Features &amp; KPIs</vt:lpstr>
      <vt:lpstr>Dashboard Pages </vt:lpstr>
      <vt:lpstr>Key Insights</vt:lpstr>
      <vt:lpstr>Business Recommendations</vt:lpstr>
      <vt:lpstr>Challenges Faced</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zainab</dc:creator>
  <cp:lastModifiedBy>zainab</cp:lastModifiedBy>
  <cp:revision>12</cp:revision>
  <dcterms:created xsi:type="dcterms:W3CDTF">2026-07-02T12:23:11Z</dcterms:created>
  <dcterms:modified xsi:type="dcterms:W3CDTF">2026-07-02T14:07:41Z</dcterms:modified>
</cp:coreProperties>
</file>